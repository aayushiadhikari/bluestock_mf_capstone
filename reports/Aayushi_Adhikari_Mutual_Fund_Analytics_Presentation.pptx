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ayushiadhikari/bluestock_mf_capston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2400"/>
              <a:t>Bluestock Fintech</a:t>
            </a:r>
          </a:p>
          <a:p>
            <a:r>
              <a:rPr sz="1800">
                <a:solidFill>
                  <a:schemeClr val="bg1">
                    <a:lumMod val="85000"/>
                  </a:schemeClr>
                </a:solidFill>
              </a:rPr>
              <a:t>Summer Internship 2026</a:t>
            </a:r>
          </a:p>
          <a:p>
            <a:endParaRPr lang="en-US" sz="18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sz="1800" smtClean="0">
                <a:solidFill>
                  <a:schemeClr val="bg1">
                    <a:lumMod val="85000"/>
                  </a:schemeClr>
                </a:solidFill>
              </a:rPr>
              <a:t>Aayushi Adhikari</a:t>
            </a:r>
            <a:endParaRPr sz="18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26774"/>
            <a:ext cx="7772400" cy="175260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MUTUAL FUND ANALYTICS        CAPSTONE PROJECT</a:t>
            </a:r>
            <a:endParaRPr sz="4400" b="1"/>
          </a:p>
        </p:txBody>
      </p:sp>
      <p:pic>
        <p:nvPicPr>
          <p:cNvPr id="1026" name="Picture 2" descr="C:\Users\aayus\OneDrive\Pictures\Screenshots\Screenshot 2026-06-09 11091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96540" y="168965"/>
            <a:ext cx="1749286" cy="136642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PROJECT OVERVIEW</a:t>
            </a:r>
            <a:endParaRPr sz="4400" b="1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4112" y="1397284"/>
            <a:ext cx="4479533" cy="499324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</a:rPr>
              <a:t>Problem Statement</a:t>
            </a:r>
          </a:p>
          <a:p>
            <a:endParaRPr lang="en-US" sz="2400" b="1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002060"/>
                </a:solidFill>
              </a:rPr>
              <a:t>This project analyzes mutual fund performance, investor behavior and investment risk using data analytics and visualization techniques.</a:t>
            </a: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Mutual fund data is large and complex.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Investors require data-driven decision making.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Performance and risk evaluation are critical.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33645" y="1397284"/>
            <a:ext cx="4366516" cy="499324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</a:rPr>
              <a:t>Objectives</a:t>
            </a:r>
          </a:p>
          <a:p>
            <a:pPr algn="ctr"/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Analyze industry trends.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Evaluate fund performance.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Measure investment risks.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Study investor demographics.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Develop Power BI dashboards.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377687"/>
            <a:ext cx="8534400" cy="758952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TECHNOLOGY STACK</a:t>
            </a:r>
            <a:endParaRPr sz="4400" b="1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1752" y="1689653"/>
            <a:ext cx="1459131" cy="101379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Python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82778" y="1689653"/>
            <a:ext cx="1459131" cy="101379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Pandas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84808" y="1689653"/>
            <a:ext cx="1459131" cy="101379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SQLite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47345" y="1689653"/>
            <a:ext cx="1459131" cy="101379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Power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BI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77021" y="1689653"/>
            <a:ext cx="1459131" cy="101379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rgbClr val="002060"/>
                </a:solidFill>
              </a:rPr>
              <a:t>Jupyter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1760883" y="1958008"/>
            <a:ext cx="401407" cy="3578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7106476" y="1931503"/>
            <a:ext cx="401407" cy="3578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5343939" y="1958008"/>
            <a:ext cx="401407" cy="3578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3540252" y="1931503"/>
            <a:ext cx="401407" cy="3578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341783" y="3458817"/>
            <a:ext cx="645049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End-to-end mutual fund analytics pipeline using Python, SQLite and Power BI.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PROJECT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sz="4900" b="1" dirty="0" smtClean="0">
                <a:solidFill>
                  <a:schemeClr val="tx1"/>
                </a:solidFill>
              </a:rPr>
              <a:t>ARCHITECTURE</a:t>
            </a:r>
            <a:endParaRPr sz="4900" b="1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2765" y="1620078"/>
            <a:ext cx="1302026" cy="5864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Raw Data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52765" y="3581398"/>
            <a:ext cx="1302026" cy="5864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SQLite Database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52765" y="2592455"/>
            <a:ext cx="1302026" cy="5864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Data Cleaning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52765" y="4550463"/>
            <a:ext cx="1302026" cy="5864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Analytics &amp; KPIs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52765" y="5511248"/>
            <a:ext cx="1432626" cy="5864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Power BI Dashboard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323296" y="2226364"/>
            <a:ext cx="457200" cy="3462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1323296" y="5146810"/>
            <a:ext cx="457200" cy="3462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1323296" y="4184372"/>
            <a:ext cx="457200" cy="3462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1323296" y="3205368"/>
            <a:ext cx="457200" cy="3462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941983" y="3581398"/>
            <a:ext cx="559573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Automated ETL pipeline transforms raw mutual fund data into interactive dashboards and analytical insights.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74" y="608076"/>
            <a:ext cx="8534400" cy="758952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000" b="1" dirty="0" smtClean="0">
                <a:solidFill>
                  <a:schemeClr val="tx1"/>
                </a:solidFill>
              </a:rPr>
              <a:t>EDA HIGHLIGHTS – INDUSTRY OVERVIEW</a:t>
            </a:r>
            <a:endParaRPr sz="4000" b="1">
              <a:solidFill>
                <a:schemeClr val="tx1"/>
              </a:solidFill>
            </a:endParaRPr>
          </a:p>
        </p:txBody>
      </p:sp>
      <p:pic>
        <p:nvPicPr>
          <p:cNvPr id="2050" name="Picture 2" descr="C:\Users\aayus\Downloads\mutual_fund_analytics_day1_starter\mutual_fund_analytics_day1_starter\reports\dashboard_p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168" y="1808922"/>
            <a:ext cx="4945545" cy="4045226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5237921" y="1808922"/>
            <a:ext cx="3597965" cy="404522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Key Insights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endParaRPr lang="en-US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Total </a:t>
            </a:r>
            <a:r>
              <a:rPr lang="en-US" sz="2000" dirty="0" smtClean="0">
                <a:solidFill>
                  <a:srgbClr val="002060"/>
                </a:solidFill>
              </a:rPr>
              <a:t>AUM reached 391.76 lakh </a:t>
            </a:r>
            <a:r>
              <a:rPr lang="en-US" sz="2000" dirty="0" smtClean="0">
                <a:solidFill>
                  <a:srgbClr val="002060"/>
                </a:solidFill>
              </a:rPr>
              <a:t>crore.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SIP inflows reached approximately 940K.</a:t>
            </a:r>
            <a:endParaRPr lang="en-US" sz="2000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Total </a:t>
            </a:r>
            <a:r>
              <a:rPr lang="en-US" sz="2000" dirty="0" smtClean="0">
                <a:solidFill>
                  <a:srgbClr val="002060"/>
                </a:solidFill>
              </a:rPr>
              <a:t>folios crossed 416 </a:t>
            </a:r>
            <a:r>
              <a:rPr lang="en-US" sz="2000" dirty="0" smtClean="0">
                <a:solidFill>
                  <a:srgbClr val="002060"/>
                </a:solidFill>
              </a:rPr>
              <a:t>crore.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SBI </a:t>
            </a:r>
            <a:r>
              <a:rPr lang="en-US" sz="2000" dirty="0" smtClean="0">
                <a:solidFill>
                  <a:srgbClr val="002060"/>
                </a:solidFill>
              </a:rPr>
              <a:t>Mutual Fund led the industry by AUM.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78296"/>
            <a:ext cx="8534400" cy="758952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3700" b="1" dirty="0" smtClean="0">
                <a:solidFill>
                  <a:schemeClr val="tx1"/>
                </a:solidFill>
              </a:rPr>
              <a:t>FUND PERFORMANCE ANALYSIS</a:t>
            </a:r>
            <a:endParaRPr sz="3700" b="1">
              <a:solidFill>
                <a:schemeClr val="tx1"/>
              </a:solidFill>
            </a:endParaRPr>
          </a:p>
        </p:txBody>
      </p:sp>
      <p:pic>
        <p:nvPicPr>
          <p:cNvPr id="3074" name="Picture 2" descr="C:\Users\aayus\Downloads\mutual_fund_analytics_day1_starter\mutual_fund_analytics_day1_starter\reports\dashboard_page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752" y="2005020"/>
            <a:ext cx="4747326" cy="390876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198166" y="2005020"/>
            <a:ext cx="3637986" cy="3908762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Key Insights</a:t>
            </a:r>
          </a:p>
          <a:p>
            <a:endParaRPr lang="en-US" sz="2400" b="1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002060"/>
                </a:solidFill>
              </a:rPr>
              <a:t>✓ </a:t>
            </a:r>
            <a:r>
              <a:rPr lang="en-US" sz="2000" dirty="0" smtClean="0">
                <a:solidFill>
                  <a:srgbClr val="002060"/>
                </a:solidFill>
              </a:rPr>
              <a:t>Top </a:t>
            </a:r>
            <a:r>
              <a:rPr lang="en-US" sz="2000" dirty="0" smtClean="0">
                <a:solidFill>
                  <a:srgbClr val="002060"/>
                </a:solidFill>
              </a:rPr>
              <a:t>equity funds delivered CAGR above 30</a:t>
            </a:r>
            <a:r>
              <a:rPr lang="en-US" sz="2000" dirty="0" smtClean="0">
                <a:solidFill>
                  <a:srgbClr val="002060"/>
                </a:solidFill>
              </a:rPr>
              <a:t>%.</a:t>
            </a:r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002060"/>
                </a:solidFill>
              </a:rPr>
              <a:t>✓ Risk-adjusted returns varied across categories</a:t>
            </a:r>
            <a:r>
              <a:rPr lang="en-US" sz="2000" dirty="0" smtClean="0">
                <a:solidFill>
                  <a:srgbClr val="002060"/>
                </a:solidFill>
              </a:rPr>
              <a:t>.</a:t>
            </a:r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002060"/>
                </a:solidFill>
              </a:rPr>
              <a:t>✓ Sharpe ratio helped identify efficient funds</a:t>
            </a:r>
            <a:r>
              <a:rPr lang="en-US" sz="2000" dirty="0" smtClean="0">
                <a:solidFill>
                  <a:srgbClr val="002060"/>
                </a:solidFill>
              </a:rPr>
              <a:t>.</a:t>
            </a:r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002060"/>
                </a:solidFill>
              </a:rPr>
              <a:t>✓ Top-performing funds achieved strong fund scores</a:t>
            </a:r>
            <a:r>
              <a:rPr lang="en-US" sz="2000" dirty="0" smtClean="0">
                <a:solidFill>
                  <a:srgbClr val="002060"/>
                </a:solidFill>
              </a:rPr>
              <a:t>.</a:t>
            </a: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endParaRPr lang="en-US" sz="2000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48478"/>
            <a:ext cx="8534400" cy="758952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INVESTOR ANALYTICS</a:t>
            </a:r>
            <a:endParaRPr sz="4400" b="1">
              <a:solidFill>
                <a:schemeClr val="tx1"/>
              </a:solidFill>
            </a:endParaRPr>
          </a:p>
        </p:txBody>
      </p:sp>
      <p:pic>
        <p:nvPicPr>
          <p:cNvPr id="4098" name="Picture 2" descr="C:\Users\aayus\Downloads\mutual_fund_analytics_day1_starter\mutual_fund_analytics_day1_starter\reports\dashboard_page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752" y="1878496"/>
            <a:ext cx="4866596" cy="409492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327374" y="1878496"/>
            <a:ext cx="3508778" cy="3970318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Key Insights</a:t>
            </a:r>
          </a:p>
          <a:p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Majority </a:t>
            </a:r>
            <a:r>
              <a:rPr lang="en-US" sz="2000" dirty="0" smtClean="0">
                <a:solidFill>
                  <a:srgbClr val="002060"/>
                </a:solidFill>
              </a:rPr>
              <a:t>of investors belonged to the 26–35 age </a:t>
            </a:r>
            <a:r>
              <a:rPr lang="en-US" sz="2000" dirty="0" smtClean="0">
                <a:solidFill>
                  <a:srgbClr val="002060"/>
                </a:solidFill>
              </a:rPr>
              <a:t>group.</a:t>
            </a:r>
            <a:endParaRPr lang="en-US" sz="2000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T30 </a:t>
            </a:r>
            <a:r>
              <a:rPr lang="en-US" sz="2000" dirty="0" smtClean="0">
                <a:solidFill>
                  <a:srgbClr val="002060"/>
                </a:solidFill>
              </a:rPr>
              <a:t>cities accounted for the largest investor </a:t>
            </a:r>
            <a:r>
              <a:rPr lang="en-US" sz="2000" dirty="0" smtClean="0">
                <a:solidFill>
                  <a:srgbClr val="002060"/>
                </a:solidFill>
              </a:rPr>
              <a:t>share.</a:t>
            </a:r>
            <a:endParaRPr lang="en-US" sz="2000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Transaction </a:t>
            </a:r>
            <a:r>
              <a:rPr lang="en-US" sz="2000" dirty="0" smtClean="0">
                <a:solidFill>
                  <a:srgbClr val="002060"/>
                </a:solidFill>
              </a:rPr>
              <a:t>volumes were concentrated in major </a:t>
            </a:r>
            <a:r>
              <a:rPr lang="en-US" sz="2000" dirty="0" smtClean="0">
                <a:solidFill>
                  <a:srgbClr val="002060"/>
                </a:solidFill>
              </a:rPr>
              <a:t>states.</a:t>
            </a:r>
            <a:endParaRPr lang="en-US" sz="2000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Investors showed strong participation across investment types.</a:t>
            </a:r>
            <a:endParaRPr lang="en-US" sz="2000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SIP &amp; MARKET TRENDS</a:t>
            </a:r>
            <a:endParaRPr sz="4400" b="1">
              <a:solidFill>
                <a:schemeClr val="tx1"/>
              </a:solidFill>
            </a:endParaRPr>
          </a:p>
        </p:txBody>
      </p:sp>
      <p:pic>
        <p:nvPicPr>
          <p:cNvPr id="5122" name="Picture 2" descr="C:\Users\aayus\Downloads\mutual_fund_analytics_day1_starter\mutual_fund_analytics_day1_starter\reports\dashboard_page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752" y="1789044"/>
            <a:ext cx="4657874" cy="4184374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78894" y="1918252"/>
            <a:ext cx="3757258" cy="3908762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Key Insights</a:t>
            </a:r>
          </a:p>
          <a:p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Active SIP accounts reached 9.35 crore.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YoY SIP growth exceeded 53%.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Long-term </a:t>
            </a:r>
            <a:r>
              <a:rPr lang="en-US" sz="2000" dirty="0" smtClean="0">
                <a:solidFill>
                  <a:srgbClr val="002060"/>
                </a:solidFill>
              </a:rPr>
              <a:t>investing generated better </a:t>
            </a:r>
            <a:r>
              <a:rPr lang="en-US" sz="2000" dirty="0" smtClean="0">
                <a:solidFill>
                  <a:srgbClr val="002060"/>
                </a:solidFill>
              </a:rPr>
              <a:t>outcomes.</a:t>
            </a:r>
            <a:endParaRPr lang="en-US" sz="2000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SIP </a:t>
            </a:r>
            <a:r>
              <a:rPr lang="en-US" sz="2000" dirty="0" smtClean="0">
                <a:solidFill>
                  <a:srgbClr val="002060"/>
                </a:solidFill>
              </a:rPr>
              <a:t>remained a preferred investment strategy</a:t>
            </a:r>
            <a:r>
              <a:rPr lang="en-US" sz="2000" dirty="0" smtClean="0">
                <a:solidFill>
                  <a:srgbClr val="002060"/>
                </a:solidFill>
              </a:rPr>
              <a:t>.</a:t>
            </a: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endParaRPr lang="en-US" sz="2000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KEY FINDINGS</a:t>
            </a:r>
            <a:endParaRPr sz="4400" b="1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1752" y="1838739"/>
            <a:ext cx="8414865" cy="3477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 </a:t>
            </a:r>
            <a:r>
              <a:rPr lang="en-US" sz="2000" dirty="0" smtClean="0"/>
              <a:t>Total </a:t>
            </a:r>
            <a:r>
              <a:rPr lang="en-US" sz="2000" dirty="0" smtClean="0"/>
              <a:t>AUM reached 391.76 lakh </a:t>
            </a:r>
            <a:r>
              <a:rPr lang="en-US" sz="2000" dirty="0" smtClean="0"/>
              <a:t>crore.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SIP </a:t>
            </a:r>
            <a:r>
              <a:rPr lang="en-US" sz="2000" dirty="0" smtClean="0"/>
              <a:t>inflows showed continuous </a:t>
            </a:r>
            <a:r>
              <a:rPr lang="en-US" sz="2000" dirty="0" smtClean="0"/>
              <a:t>growth.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SBI </a:t>
            </a:r>
            <a:r>
              <a:rPr lang="en-US" sz="2000" dirty="0" smtClean="0"/>
              <a:t>Mutual Fund held the highest </a:t>
            </a:r>
            <a:r>
              <a:rPr lang="en-US" sz="2000" dirty="0" smtClean="0"/>
              <a:t>AUM.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Several </a:t>
            </a:r>
            <a:r>
              <a:rPr lang="en-US" sz="2000" dirty="0" smtClean="0"/>
              <a:t>equity funds delivered CAGR above 30</a:t>
            </a:r>
            <a:r>
              <a:rPr lang="en-US" sz="2000" dirty="0" smtClean="0"/>
              <a:t>%.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Investors </a:t>
            </a:r>
            <a:r>
              <a:rPr lang="en-US" sz="2000" dirty="0" smtClean="0"/>
              <a:t>aged 26–35 formed the largest </a:t>
            </a:r>
            <a:r>
              <a:rPr lang="en-US" sz="2000" dirty="0" smtClean="0"/>
              <a:t>segment.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Tier-30 </a:t>
            </a:r>
            <a:r>
              <a:rPr lang="en-US" sz="2000" dirty="0" smtClean="0"/>
              <a:t>cities contributed significantly to transactions.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RECOMMENDATIONS</a:t>
            </a:r>
            <a:endParaRPr sz="4400" b="1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0900" y="1749287"/>
            <a:ext cx="8235961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 </a:t>
            </a:r>
            <a:r>
              <a:rPr lang="en-US" sz="2000" dirty="0" smtClean="0"/>
              <a:t>Encourage </a:t>
            </a:r>
            <a:r>
              <a:rPr lang="en-US" sz="2000" dirty="0" smtClean="0"/>
              <a:t>long-term SIP </a:t>
            </a:r>
            <a:r>
              <a:rPr lang="en-US" sz="2000" dirty="0" smtClean="0"/>
              <a:t>investments.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Diversify </a:t>
            </a:r>
            <a:r>
              <a:rPr lang="en-US" sz="2000" dirty="0" smtClean="0"/>
              <a:t>across multiple fund </a:t>
            </a:r>
            <a:r>
              <a:rPr lang="en-US" sz="2000" dirty="0" smtClean="0"/>
              <a:t>categories.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Use </a:t>
            </a:r>
            <a:r>
              <a:rPr lang="en-US" sz="2000" dirty="0" smtClean="0"/>
              <a:t>risk-adjusted metrics before </a:t>
            </a:r>
            <a:r>
              <a:rPr lang="en-US" sz="2000" dirty="0" smtClean="0"/>
              <a:t>investing.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Monitor </a:t>
            </a:r>
            <a:r>
              <a:rPr lang="en-US" sz="2000" dirty="0" smtClean="0"/>
              <a:t>fund performance </a:t>
            </a:r>
            <a:r>
              <a:rPr lang="en-US" sz="2000" dirty="0" smtClean="0"/>
              <a:t>regularly.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Leverage </a:t>
            </a:r>
            <a:r>
              <a:rPr lang="en-US" sz="2000" dirty="0" smtClean="0"/>
              <a:t>analytics dashboards for decision-making.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4400" b="1" dirty="0" smtClean="0">
                <a:solidFill>
                  <a:schemeClr val="tx1"/>
                </a:solidFill>
              </a:rPr>
              <a:t>PROJECT OUTCOMES</a:t>
            </a:r>
            <a:endParaRPr sz="4400" b="1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0596" y="1699591"/>
            <a:ext cx="8166387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/>
              <a:t> Built </a:t>
            </a:r>
            <a:r>
              <a:rPr lang="en-US" sz="2000" dirty="0" smtClean="0"/>
              <a:t>complete ETL </a:t>
            </a:r>
            <a:r>
              <a:rPr lang="en-US" sz="2000" dirty="0" smtClean="0"/>
              <a:t>pipeline.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Created </a:t>
            </a:r>
            <a:r>
              <a:rPr lang="en-US" sz="2000" dirty="0" smtClean="0"/>
              <a:t>SQLite analytical </a:t>
            </a:r>
            <a:r>
              <a:rPr lang="en-US" sz="2000" dirty="0" smtClean="0"/>
              <a:t>database.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Developed </a:t>
            </a:r>
            <a:r>
              <a:rPr lang="en-US" sz="2000" dirty="0" smtClean="0"/>
              <a:t>interactive Power BI </a:t>
            </a:r>
            <a:r>
              <a:rPr lang="en-US" sz="2000" dirty="0" smtClean="0"/>
              <a:t>dashboard.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Performed </a:t>
            </a:r>
            <a:r>
              <a:rPr lang="en-US" sz="2000" dirty="0" smtClean="0"/>
              <a:t>industry, performance and investor </a:t>
            </a:r>
            <a:r>
              <a:rPr lang="en-US" sz="2000" dirty="0" smtClean="0"/>
              <a:t>analysis.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 Generated </a:t>
            </a:r>
            <a:r>
              <a:rPr lang="en-US" sz="2000" dirty="0" smtClean="0"/>
              <a:t>actionable investment insights.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087" y="168968"/>
            <a:ext cx="8835887" cy="656976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THANK </a:t>
            </a:r>
            <a:r>
              <a:rPr lang="en-US" sz="6000" dirty="0" smtClean="0">
                <a:solidFill>
                  <a:schemeClr val="bg1"/>
                </a:solidFill>
              </a:rPr>
              <a:t>YOU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Questions &amp; Discussion</a:t>
            </a:r>
            <a:endParaRPr lang="en-US" sz="2800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Project Repository:</a:t>
            </a:r>
          </a:p>
          <a:p>
            <a:r>
              <a:rPr lang="en-US" sz="1400" dirty="0" smtClean="0">
                <a:solidFill>
                  <a:schemeClr val="bg1"/>
                </a:solidFill>
                <a:hlinkClick r:id="rId2"/>
              </a:rPr>
              <a:t>https://</a:t>
            </a:r>
            <a:r>
              <a:rPr lang="en-US" sz="1400" dirty="0" smtClean="0">
                <a:solidFill>
                  <a:schemeClr val="bg1"/>
                </a:solidFill>
                <a:hlinkClick r:id="rId2"/>
              </a:rPr>
              <a:t>github.com/aayushiadhikari/bluestock_mf_capstone</a:t>
            </a:r>
            <a:endParaRPr lang="en-US" sz="1400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230</TotalTime>
  <Words>423</Words>
  <Application>Microsoft Macintosh PowerPoint</Application>
  <PresentationFormat>On-screen Show (4:3)</PresentationFormat>
  <Paragraphs>112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Civic</vt:lpstr>
      <vt:lpstr>MUTUAL FUND ANALYTICS        CAPSTONE PROJECT</vt:lpstr>
      <vt:lpstr>PROJECT OVERVIEW</vt:lpstr>
      <vt:lpstr>TECHNOLOGY STACK</vt:lpstr>
      <vt:lpstr>PROJECT ARCHITECTURE</vt:lpstr>
      <vt:lpstr>EDA HIGHLIGHTS – INDUSTRY OVERVIEW</vt:lpstr>
      <vt:lpstr>FUND PERFORMANCE ANALYSIS</vt:lpstr>
      <vt:lpstr>INVESTOR ANALYTICS</vt:lpstr>
      <vt:lpstr>SIP &amp; MARKET TRENDS</vt:lpstr>
      <vt:lpstr>KEY FINDINGS</vt:lpstr>
      <vt:lpstr>RECOMMENDATIONS</vt:lpstr>
      <vt:lpstr>PROJECT OUTCOMES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       CAPSTONE PROJECT</dc:title>
  <dc:creator>Aayushi Adhikari</dc:creator>
  <dc:description>generated using python-pptx</dc:description>
  <cp:lastModifiedBy>Aayushi Adhikari</cp:lastModifiedBy>
  <cp:revision>57</cp:revision>
  <dcterms:created xsi:type="dcterms:W3CDTF">2013-01-27T09:14:16Z</dcterms:created>
  <dcterms:modified xsi:type="dcterms:W3CDTF">2026-06-11T19:00:25Z</dcterms:modified>
</cp:coreProperties>
</file>